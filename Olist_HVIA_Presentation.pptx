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HVIA Trial Task — Olist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Data Analysis &amp; Business Opportunity</a:t>
            </a:r>
          </a:p>
          <a:p>
            <a:pPr>
              <a:spcAft>
                <a:spcPts val="1200"/>
              </a:spcAft>
              <a:defRPr sz="1800"/>
            </a:pPr>
            <a:r>
              <a:t>Olist Brazilian E-Commerce Public Dataset</a:t>
            </a:r>
          </a:p>
          <a:p>
            <a:pPr>
              <a:spcAft>
                <a:spcPts val="1200"/>
              </a:spcAft>
              <a:defRPr sz="1800"/>
            </a:pPr>
            <a:r>
              <a:t>Core story: Delivery Performance → Customer Experience → Data/AI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Understanding Olist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Current Olist positions itself as an integrated retail technology ecosystem.</a:t>
            </a:r>
          </a:p>
          <a:p>
            <a:pPr>
              <a:spcAft>
                <a:spcPts val="1200"/>
              </a:spcAft>
              <a:defRPr sz="1800"/>
            </a:pPr>
            <a:r>
              <a:t>Core areas include ERP, marketplace integration, ecommerce, logistics, payments, credit and native AI.</a:t>
            </a:r>
          </a:p>
          <a:p>
            <a:pPr>
              <a:spcAft>
                <a:spcPts val="1200"/>
              </a:spcAft>
              <a:defRPr sz="1800"/>
            </a:pPr>
            <a:r>
              <a:t>Current Olist states 63k+ customers and 170+ integrations.</a:t>
            </a:r>
          </a:p>
          <a:p>
            <a:pPr>
              <a:spcAft>
                <a:spcPts val="1200"/>
              </a:spcAft>
              <a:defRPr sz="1800"/>
            </a:pPr>
            <a:r>
              <a:t>Implication: operational data is central to the value proposition.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9 relational tables covering ~100k orders from 2016–2018.</a:t>
            </a:r>
          </a:p>
          <a:p>
            <a:pPr>
              <a:spcAft>
                <a:spcPts val="1200"/>
              </a:spcAft>
              <a:defRPr sz="1800"/>
            </a:pPr>
            <a:r>
              <a:t>Orders connect customers, items, payments and reviews.</a:t>
            </a:r>
          </a:p>
          <a:p>
            <a:pPr>
              <a:spcAft>
                <a:spcPts val="1200"/>
              </a:spcAft>
              <a:defRPr sz="1800"/>
            </a:pPr>
            <a:r>
              <a:t>Order items connect products and sellers.</a:t>
            </a:r>
          </a:p>
          <a:p>
            <a:pPr>
              <a:spcAft>
                <a:spcPts val="1200"/>
              </a:spcAft>
              <a:defRPr sz="1800"/>
            </a:pPr>
            <a:r>
              <a:t>Geolocation and category translation enrich the core model.</a:t>
            </a:r>
          </a:p>
          <a:p>
            <a:pPr>
              <a:spcAft>
                <a:spcPts val="1200"/>
              </a:spcAft>
              <a:defRPr sz="1800"/>
            </a:pPr>
            <a:r>
              <a:t>Important: aggregate one-to-many tables before calculating order-level KPIs.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Key Data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99,441 orders in the public dataset.</a:t>
            </a:r>
          </a:p>
          <a:p>
            <a:pPr>
              <a:spcAft>
                <a:spcPts val="1200"/>
              </a:spcAft>
              <a:defRPr sz="1800"/>
            </a:pPr>
            <a:r>
              <a:t>112,650 order-item rows and 103,886 payment rows.</a:t>
            </a:r>
          </a:p>
          <a:p>
            <a:pPr>
              <a:spcAft>
                <a:spcPts val="1200"/>
              </a:spcAft>
              <a:defRPr sz="1800"/>
            </a:pPr>
            <a:r>
              <a:t>3,095 sellers and 32,951 products.</a:t>
            </a:r>
          </a:p>
          <a:p>
            <a:pPr>
              <a:spcAft>
                <a:spcPts val="1200"/>
              </a:spcAft>
              <a:defRPr sz="1800"/>
            </a:pPr>
            <a:r>
              <a:t>Historical purchase period: Sep 2016 – Oct 2018.</a:t>
            </a:r>
          </a:p>
          <a:p>
            <a:pPr>
              <a:spcAft>
                <a:spcPts val="1200"/>
              </a:spcAft>
              <a:defRPr sz="1800"/>
            </a:pPr>
            <a:r>
              <a:t>Core relationships validate cleanly in an independent SQL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Commercial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Item + freight value is approximately $15.84M in one independent validation.</a:t>
            </a:r>
          </a:p>
          <a:p>
            <a:pPr>
              <a:spcAft>
                <a:spcPts val="1200"/>
              </a:spcAft>
              <a:defRPr sz="1800"/>
            </a:pPr>
            <a:r>
              <a:t>São Paulo is the largest revenue state (~$5.77M in one end-to-end analysis).</a:t>
            </a:r>
          </a:p>
          <a:p>
            <a:pPr>
              <a:spcAft>
                <a:spcPts val="1200"/>
              </a:spcAft>
              <a:defRPr sz="1800"/>
            </a:pPr>
            <a:r>
              <a:t>Health &amp; Beauty is the leading revenue category in the cited analysis.</a:t>
            </a:r>
          </a:p>
          <a:p>
            <a:pPr>
              <a:spcAft>
                <a:spcPts val="1200"/>
              </a:spcAft>
              <a:defRPr sz="1800"/>
            </a:pPr>
            <a:r>
              <a:t>Credit card is the dominant payment method.</a:t>
            </a:r>
          </a:p>
          <a:p>
            <a:pPr>
              <a:spcAft>
                <a:spcPts val="1200"/>
              </a:spcAft>
              <a:defRPr sz="1800"/>
            </a:pPr>
            <a:r>
              <a:t>November shows a strong seasonal spike.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Core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Delivery performance is strongly associated with customer satisfaction.</a:t>
            </a:r>
          </a:p>
          <a:p>
            <a:pPr>
              <a:spcAft>
                <a:spcPts val="1200"/>
              </a:spcAft>
              <a:defRPr sz="1800"/>
            </a:pPr>
            <a:r>
              <a:t>Average review score: ~4.29 for on-time deliveries vs ~2.57 for late deliveries in one independent analysis.</a:t>
            </a:r>
          </a:p>
          <a:p>
            <a:pPr>
              <a:spcAft>
                <a:spcPts val="1200"/>
              </a:spcAft>
              <a:defRPr sz="1800"/>
            </a:pPr>
            <a:r>
              <a:t>Late-delivery rate is ~6.8% in the cited end-to-end analysis.</a:t>
            </a:r>
          </a:p>
          <a:p>
            <a:pPr>
              <a:spcAft>
                <a:spcPts val="1200"/>
              </a:spcAft>
              <a:defRPr sz="1800"/>
            </a:pPr>
            <a:r>
              <a:t>Interpretation: fulfillment is not only a logistics KPI; it is a customer-experience signal.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Business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Identify where late deliveries are concentrated.</a:t>
            </a:r>
          </a:p>
          <a:p>
            <a:pPr>
              <a:spcAft>
                <a:spcPts val="1200"/>
              </a:spcAft>
              <a:defRPr sz="1800"/>
            </a:pPr>
            <a:r>
              <a:t>Compare seller, region and product patterns.</a:t>
            </a:r>
          </a:p>
          <a:p>
            <a:pPr>
              <a:spcAft>
                <a:spcPts val="1200"/>
              </a:spcAft>
              <a:defRPr sz="1800"/>
            </a:pPr>
            <a:r>
              <a:t>Prioritize persistent problems using minimum-volume thresholds.</a:t>
            </a:r>
          </a:p>
          <a:p>
            <a:pPr>
              <a:spcAft>
                <a:spcPts val="1200"/>
              </a:spcAft>
              <a:defRPr sz="1800"/>
            </a:pPr>
            <a:r>
              <a:t>Connect operational risk with customer experience and commercial value.</a:t>
            </a:r>
          </a:p>
          <a:p>
            <a:pPr>
              <a:spcAft>
                <a:spcPts val="1200"/>
              </a:spcAft>
              <a:defRPr sz="1800"/>
            </a:pPr>
            <a:r>
              <a:t>Move from reporting what happened to predicting what may happen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HVIA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Olist Delivery &amp; Customer Experience Intelligence.</a:t>
            </a:r>
          </a:p>
          <a:p>
            <a:pPr>
              <a:spcAft>
                <a:spcPts val="1200"/>
              </a:spcAft>
              <a:defRPr sz="1800"/>
            </a:pPr>
            <a:r>
              <a:t>Phase 1: Power BI / web monitoring dashboard.</a:t>
            </a:r>
          </a:p>
          <a:p>
            <a:pPr>
              <a:spcAft>
                <a:spcPts val="1200"/>
              </a:spcAft>
              <a:defRPr sz="1800"/>
            </a:pPr>
            <a:r>
              <a:t>Phase 2: diagnostic seller/region/category analysis.</a:t>
            </a:r>
          </a:p>
          <a:p>
            <a:pPr>
              <a:spcAft>
                <a:spcPts val="1200"/>
              </a:spcAft>
              <a:defRPr sz="1800"/>
            </a:pPr>
            <a:r>
              <a:t>Phase 3: ML probability of late delivery before outcome.</a:t>
            </a:r>
          </a:p>
          <a:p>
            <a:pPr>
              <a:spcAft>
                <a:spcPts val="1200"/>
              </a:spcAft>
              <a:defRPr sz="1800"/>
            </a:pPr>
            <a:r>
              <a:t>Phase 4: alerts and operational actions.</a:t>
            </a:r>
          </a:p>
          <a:p>
            <a:pPr>
              <a:spcAft>
                <a:spcPts val="1200"/>
              </a:spcAft>
              <a:defRPr sz="1800"/>
            </a:pPr>
            <a:r>
              <a:t>Phase 5: review-text NLP and continuous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Why HVIA + Olist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proposal fits Olist's integrated operational ecosystem.</a:t>
            </a:r>
          </a:p>
          <a:p>
            <a:pPr>
              <a:spcAft>
                <a:spcPts val="1200"/>
              </a:spcAft>
              <a:defRPr sz="1800"/>
            </a:pPr>
            <a:r>
              <a:t>HVIA can combine Data Engineering + Analytics + AI rather than delivering a static report.</a:t>
            </a:r>
          </a:p>
          <a:p>
            <a:pPr>
              <a:spcAft>
                <a:spcPts val="1200"/>
              </a:spcAft>
              <a:defRPr sz="1800"/>
            </a:pPr>
            <a:r>
              <a:t>Start with a focused proof of concept using current operational data.</a:t>
            </a:r>
          </a:p>
          <a:p>
            <a:pPr>
              <a:spcAft>
                <a:spcPts val="1200"/>
              </a:spcAft>
              <a:defRPr sz="1800"/>
            </a:pPr>
            <a:r>
              <a:t>Measure impact through SLA improvement, customer experience and intervention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Public dataset ends in 2018; it is not a 2026 operational snapshot.</a:t>
            </a:r>
          </a:p>
          <a:p>
            <a:pPr>
              <a:spcAft>
                <a:spcPts val="1200"/>
              </a:spcAft>
              <a:defRPr sz="1800"/>
            </a:pPr>
            <a:r>
              <a:t>No dedicated courier field.</a:t>
            </a:r>
          </a:p>
          <a:p>
            <a:pPr>
              <a:spcAft>
                <a:spcPts val="1200"/>
              </a:spcAft>
              <a:defRPr sz="1800"/>
            </a:pPr>
            <a:r>
              <a:t>Historical association does not prove causation.</a:t>
            </a:r>
          </a:p>
          <a:p>
            <a:pPr>
              <a:spcAft>
                <a:spcPts val="1200"/>
              </a:spcAft>
              <a:defRPr sz="1800"/>
            </a:pPr>
            <a:r>
              <a:t>No live traffic, weather, warehouse or tracking data.</a:t>
            </a:r>
          </a:p>
          <a:p>
            <a:pPr>
              <a:spcAft>
                <a:spcPts val="1200"/>
              </a:spcAft>
              <a:defRPr sz="1800"/>
            </a:pPr>
            <a:r>
              <a:t>Production deployment requires current Olist data and business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Outreach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Target: Data / Analytics / AI / Operations / Product / Technology decision-maker.</a:t>
            </a:r>
          </a:p>
          <a:p>
            <a:pPr>
              <a:spcAft>
                <a:spcPts val="1200"/>
              </a:spcAft>
              <a:defRPr sz="1800"/>
            </a:pPr>
            <a:r>
              <a:t>Lead with one concrete public-data finding.</a:t>
            </a:r>
          </a:p>
          <a:p>
            <a:pPr>
              <a:spcAft>
                <a:spcPts val="1200"/>
              </a:spcAft>
              <a:defRPr sz="1800"/>
            </a:pPr>
            <a:r>
              <a:t>Offer a short discovery call, not a large implementation pitch.</a:t>
            </a:r>
          </a:p>
          <a:p>
            <a:pPr>
              <a:spcAft>
                <a:spcPts val="1200"/>
              </a:spcAft>
              <a:defRPr sz="1800"/>
            </a:pPr>
            <a:r>
              <a:t>Goal: validate whether the same pattern exists in current operational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